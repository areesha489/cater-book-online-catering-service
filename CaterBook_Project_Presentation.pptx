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0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56A6-C065-0980-97A3-EEFA122D7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2B374-2C16-CADF-4A42-2A6FE3DA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45DFF-35B7-259C-04D8-F46E388F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90A4-23F8-4751-FA84-F8DF4B6D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C9D3A-1485-0999-794F-C8198E93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A560-C7C0-DF12-3B8A-9BCD040F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71D8-C704-7570-B415-BCC08FF81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B4CB4-EE36-8248-BD00-17CAF899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9FABC-75AA-8466-66D1-648A153E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2BFB0-107B-900D-EE10-D2361820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6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7654-191A-177E-5253-B67D712C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507FE-0989-6281-8E8B-1F7DB965F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C9A84-2610-528C-7085-2F20BB5B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251D-9ACE-510E-D6B4-3AB60558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B4014-EF5E-0B3B-9E9C-C7E02E03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9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4A8F-62E4-CD59-01A0-3A5691AC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A5AB6-BD55-FAC4-AD8B-E62C01423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37A01-E9D9-D829-5386-7DEE0E713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1C6D6-84E9-F8E9-60CE-5AFB7EDF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74D1-A3E2-9B84-89B5-4181729D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90C88-F3A6-D92B-DF85-D417F1EA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3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9706-AE15-6231-CC66-A6E03904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B0A3C-3BCA-E1A9-2E53-EE77BFAE7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6A91-3667-54B9-FF8E-3ADF0F4A4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16CAD-BC2E-6C5C-61BA-35F28DF1D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0A087-CA04-98AE-C553-B25379AE9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ED6ED-EDC3-1FE5-0607-A8B1249A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B3B04-A63D-E022-2140-3DB5675A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18185E-800C-BABB-C0B7-274E0E15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1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0E1A-160F-9B34-79A1-ACA48018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5CAF7-8748-243F-66A8-71D0F96F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F2D08-0904-063C-F8A2-14080083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F412F-8CB6-4A88-5BA4-63CF42AE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6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7DA45-9150-CE95-925B-AF8FCE2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95838-01C8-D46C-7813-041C0E77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AC8FA-6CF1-8FFC-E90B-8B2A897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3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E1F4-30F0-23EE-EEC5-5144074A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23B3F-43D9-738E-5061-499761848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9E5F9-B3ED-B2F5-372D-5930EB7DB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84A88-8651-2BA6-1D0B-2F1D23E2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8D864-FA74-ED53-1323-7731D7B4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A9363-90FC-9E59-583C-427548DD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7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52DE-4FF8-C30A-FC78-5BCEBE76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E4A84-970B-6B15-AC4F-F3C3279FB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451E2-F8F8-B46E-33C6-FF7FC86B6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5B85C-B9AE-DFA4-63B6-9BFFC345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365F0-8FAE-9D19-2414-8CB0DE3D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6407-FFE1-3A12-76FB-4F2CFB20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8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80E4-349C-8425-65FA-056D6CAB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30F29-0946-BE5C-D282-D3928ECC7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F790B-0B7F-BD61-7ECE-672F8462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DBDC-A873-20DC-F0A7-95C85730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D853-9429-B198-05A5-339C2ABC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3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1D8391-06EB-5271-1910-DD3A4805B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DD62B-EED5-9384-AD14-BE36B743B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1B2D-327A-244C-37C9-52BB6C51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9D7D6-CD02-AA42-766F-8F007FF9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8DF6F-3776-EFE4-8FBE-438F9D15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2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B4ABF-43B4-5A1A-EBE6-99EF36D5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92F61-986C-EDFE-62F6-25D1B9370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838C9-2CF0-B367-C71E-42DF3D919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BCC0C-3B9D-4953-AD3B-E58BF7688F3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77360-FC2F-78EA-639F-80BA5DD1F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9D46-34A9-F5AF-5215-13938CD9B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D2219-98A9-4F22-A346-6CD09D79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76D4B2-C03C-4F5A-CB7D-FEEA5C60E50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E80CD1-1FF1-531F-D609-3E19C3C84115}"/>
              </a:ext>
            </a:extLst>
          </p:cNvPr>
          <p:cNvSpPr/>
          <p:nvPr/>
        </p:nvSpPr>
        <p:spPr>
          <a:xfrm>
            <a:off x="10541000" y="0"/>
            <a:ext cx="5715000" cy="91440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41FED-2A95-E02A-49E4-65520CA78124}"/>
              </a:ext>
            </a:extLst>
          </p:cNvPr>
          <p:cNvSpPr txBox="1"/>
          <p:nvPr/>
        </p:nvSpPr>
        <p:spPr>
          <a:xfrm>
            <a:off x="889000" y="1143000"/>
            <a:ext cx="8001000" cy="92845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5200" b="1">
                <a:solidFill>
                  <a:srgbClr val="FFFFFF"/>
                </a:solidFill>
                <a:latin typeface="Aptos" panose="020B0004020202020204" pitchFamily="34" charset="0"/>
              </a:rPr>
              <a:t>CaterBook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2D4BA-E7FF-0D44-4B7C-89BBBB0A929B}"/>
              </a:ext>
            </a:extLst>
          </p:cNvPr>
          <p:cNvSpPr txBox="1"/>
          <p:nvPr/>
        </p:nvSpPr>
        <p:spPr>
          <a:xfrm>
            <a:off x="939800" y="2095500"/>
            <a:ext cx="8255000" cy="52835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600" b="1">
                <a:solidFill>
                  <a:srgbClr val="F4A261"/>
                </a:solidFill>
                <a:latin typeface="Aptos" panose="020B0004020202020204" pitchFamily="34" charset="0"/>
              </a:rPr>
              <a:t>Online Catering Service Website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8521AE-714F-DA72-9BF0-A48C2BCA75A9}"/>
              </a:ext>
            </a:extLst>
          </p:cNvPr>
          <p:cNvSpPr txBox="1"/>
          <p:nvPr/>
        </p:nvSpPr>
        <p:spPr>
          <a:xfrm>
            <a:off x="965200" y="2921000"/>
            <a:ext cx="7874000" cy="119006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300">
                <a:solidFill>
                  <a:srgbClr val="D1D5DB"/>
                </a:solidFill>
                <a:latin typeface="Aptos" panose="020B0004020202020204" pitchFamily="34" charset="0"/>
              </a:rPr>
              <a:t>ASP.NET Core MVC platform for customers, caterers and admins to discover, book and manage catering services online.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9712AC-E634-F355-BBDA-1723C80AE765}"/>
              </a:ext>
            </a:extLst>
          </p:cNvPr>
          <p:cNvSpPr/>
          <p:nvPr/>
        </p:nvSpPr>
        <p:spPr>
          <a:xfrm>
            <a:off x="990600" y="4572000"/>
            <a:ext cx="2159000" cy="533400"/>
          </a:xfrm>
          <a:prstGeom prst="roundRect">
            <a:avLst/>
          </a:prstGeom>
          <a:solidFill>
            <a:srgbClr val="D4622A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C922B-C322-B31B-AD72-AF35819F3B9F}"/>
              </a:ext>
            </a:extLst>
          </p:cNvPr>
          <p:cNvSpPr txBox="1"/>
          <p:nvPr/>
        </p:nvSpPr>
        <p:spPr>
          <a:xfrm>
            <a:off x="990600" y="4660900"/>
            <a:ext cx="2159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Customer Panel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1E08C9-3C53-0EF7-C4E8-83AD058635DA}"/>
              </a:ext>
            </a:extLst>
          </p:cNvPr>
          <p:cNvSpPr/>
          <p:nvPr/>
        </p:nvSpPr>
        <p:spPr>
          <a:xfrm>
            <a:off x="3429000" y="4572000"/>
            <a:ext cx="2159000" cy="533400"/>
          </a:xfrm>
          <a:prstGeom prst="roundRect">
            <a:avLst/>
          </a:prstGeom>
          <a:solidFill>
            <a:srgbClr val="1B6B4A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59F3E-A505-2B43-A1AD-BE75684224FD}"/>
              </a:ext>
            </a:extLst>
          </p:cNvPr>
          <p:cNvSpPr txBox="1"/>
          <p:nvPr/>
        </p:nvSpPr>
        <p:spPr>
          <a:xfrm>
            <a:off x="3429000" y="4660900"/>
            <a:ext cx="2159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Caterer Panel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A658A3-A17D-7026-DE8E-537337D56992}"/>
              </a:ext>
            </a:extLst>
          </p:cNvPr>
          <p:cNvSpPr/>
          <p:nvPr/>
        </p:nvSpPr>
        <p:spPr>
          <a:xfrm>
            <a:off x="5867400" y="4572000"/>
            <a:ext cx="1905000" cy="533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A0C93-D2BF-8560-477D-C1A60C87D0B2}"/>
              </a:ext>
            </a:extLst>
          </p:cNvPr>
          <p:cNvSpPr txBox="1"/>
          <p:nvPr/>
        </p:nvSpPr>
        <p:spPr>
          <a:xfrm>
            <a:off x="5867400" y="4660900"/>
            <a:ext cx="1905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Admin Panel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D182F-7944-6FFF-CAD4-E096062B1185}"/>
              </a:ext>
            </a:extLst>
          </p:cNvPr>
          <p:cNvSpPr txBox="1"/>
          <p:nvPr/>
        </p:nvSpPr>
        <p:spPr>
          <a:xfrm>
            <a:off x="990600" y="7937500"/>
            <a:ext cx="4445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>
                <a:solidFill>
                  <a:srgbClr val="D1D5DB"/>
                </a:solidFill>
                <a:latin typeface="Aptos" panose="020B0004020202020204" pitchFamily="34" charset="0"/>
              </a:rPr>
              <a:t>Project Presentation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60AC6B-CB4F-D0CE-D202-9B03F5E99F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2500" y="889000"/>
            <a:ext cx="4064000" cy="26035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41530E3-F163-BC18-0117-D15F2030C59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3500" y="3873500"/>
            <a:ext cx="3302000" cy="2159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18EBD10-AE5F-D88F-F4BE-F3602F768CA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2500" y="6413500"/>
            <a:ext cx="40640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1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B5CFC-D7E4-B97C-17C6-1B07938047FF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C0DFF-2F4A-5269-5AD8-8BA7C021B24A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What we built in this catering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FBEA6-8C60-6719-54E6-3A0E6E60010A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FF89B7-2E38-41C7-0EDF-1A9A82D1164B}"/>
              </a:ext>
            </a:extLst>
          </p:cNvPr>
          <p:cNvSpPr/>
          <p:nvPr/>
        </p:nvSpPr>
        <p:spPr>
          <a:xfrm>
            <a:off x="952500" y="2159000"/>
            <a:ext cx="6604000" cy="20320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9F5A4-806C-04B8-3CD0-FDC6B6003807}"/>
              </a:ext>
            </a:extLst>
          </p:cNvPr>
          <p:cNvSpPr txBox="1"/>
          <p:nvPr/>
        </p:nvSpPr>
        <p:spPr>
          <a:xfrm>
            <a:off x="1257300" y="2387600"/>
            <a:ext cx="5842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Purpose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67612-E20C-9056-FFE0-806CB27E0C0A}"/>
              </a:ext>
            </a:extLst>
          </p:cNvPr>
          <p:cNvSpPr txBox="1"/>
          <p:nvPr/>
        </p:nvSpPr>
        <p:spPr>
          <a:xfrm>
            <a:off x="1257300" y="2946400"/>
            <a:ext cx="57785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Customers can search, compare and book professional caterers for events.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1332A8-3191-9E74-9222-8EE7CE688E8C}"/>
              </a:ext>
            </a:extLst>
          </p:cNvPr>
          <p:cNvSpPr/>
          <p:nvPr/>
        </p:nvSpPr>
        <p:spPr>
          <a:xfrm>
            <a:off x="8445500" y="2159000"/>
            <a:ext cx="6604000" cy="20320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84144-6339-99A3-9DDF-58C293376B98}"/>
              </a:ext>
            </a:extLst>
          </p:cNvPr>
          <p:cNvSpPr txBox="1"/>
          <p:nvPr/>
        </p:nvSpPr>
        <p:spPr>
          <a:xfrm>
            <a:off x="8750300" y="2387600"/>
            <a:ext cx="5842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F6A28-5A3B-1A10-43CD-32CB0B86FADF}"/>
              </a:ext>
            </a:extLst>
          </p:cNvPr>
          <p:cNvSpPr txBox="1"/>
          <p:nvPr/>
        </p:nvSpPr>
        <p:spPr>
          <a:xfrm>
            <a:off x="8750300" y="2946400"/>
            <a:ext cx="57785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ASP.NET Core MVC, Entity Framework Core, SQL Server, Razor Views, Bootstrap UI.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7EDEBC-798E-7C13-A2C4-871477D2040F}"/>
              </a:ext>
            </a:extLst>
          </p:cNvPr>
          <p:cNvSpPr/>
          <p:nvPr/>
        </p:nvSpPr>
        <p:spPr>
          <a:xfrm>
            <a:off x="952500" y="4762500"/>
            <a:ext cx="6604000" cy="20320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08CD46-F49D-8941-70D6-6C177205EBDC}"/>
              </a:ext>
            </a:extLst>
          </p:cNvPr>
          <p:cNvSpPr txBox="1"/>
          <p:nvPr/>
        </p:nvSpPr>
        <p:spPr>
          <a:xfrm>
            <a:off x="1257300" y="4991100"/>
            <a:ext cx="5842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Roles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8A8B8-DE92-6954-8985-F761FCFA4A48}"/>
              </a:ext>
            </a:extLst>
          </p:cNvPr>
          <p:cNvSpPr txBox="1"/>
          <p:nvPr/>
        </p:nvSpPr>
        <p:spPr>
          <a:xfrm>
            <a:off x="1257300" y="5549900"/>
            <a:ext cx="57785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Customer, Caterer and Admin panels with session-based access control.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AAEC69-FA2C-AFC2-0C84-07EDB5B89767}"/>
              </a:ext>
            </a:extLst>
          </p:cNvPr>
          <p:cNvSpPr/>
          <p:nvPr/>
        </p:nvSpPr>
        <p:spPr>
          <a:xfrm>
            <a:off x="8445500" y="4762500"/>
            <a:ext cx="6604000" cy="20320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BC4259-165E-0778-ACFF-B400E7D56DB9}"/>
              </a:ext>
            </a:extLst>
          </p:cNvPr>
          <p:cNvSpPr txBox="1"/>
          <p:nvPr/>
        </p:nvSpPr>
        <p:spPr>
          <a:xfrm>
            <a:off x="8750300" y="4991100"/>
            <a:ext cx="5842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Brand/UI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30D4F7-9CC4-61EC-D714-FE52CB67A0FB}"/>
              </a:ext>
            </a:extLst>
          </p:cNvPr>
          <p:cNvSpPr txBox="1"/>
          <p:nvPr/>
        </p:nvSpPr>
        <p:spPr>
          <a:xfrm>
            <a:off x="8750300" y="5549900"/>
            <a:ext cx="57785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CaterBook dark premium theme with responsive layout, hero media, cards and dashboard pages.</a:t>
            </a:r>
          </a:p>
        </p:txBody>
      </p:sp>
    </p:spTree>
    <p:extLst>
      <p:ext uri="{BB962C8B-B14F-4D97-AF65-F5344CB8AC3E}">
        <p14:creationId xmlns:p14="http://schemas.microsoft.com/office/powerpoint/2010/main" val="213720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CE746-BC47-412B-0FE4-465375BC5B72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Main System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DB415-5E8E-D88E-E6E9-70B5F3EFFBF0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Customer journey from discovery to invoice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EC66A-D600-16B9-DDFA-020A1961D2F6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926126-25AA-C580-5A83-203937CB11CF}"/>
              </a:ext>
            </a:extLst>
          </p:cNvPr>
          <p:cNvSpPr/>
          <p:nvPr/>
        </p:nvSpPr>
        <p:spPr>
          <a:xfrm>
            <a:off x="889000" y="2921000"/>
            <a:ext cx="1651000" cy="1041400"/>
          </a:xfrm>
          <a:prstGeom prst="roundRect">
            <a:avLst/>
          </a:prstGeom>
          <a:solidFill>
            <a:srgbClr val="D4622A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28577-66B4-7E4F-3D1C-A9DC14D54CBB}"/>
              </a:ext>
            </a:extLst>
          </p:cNvPr>
          <p:cNvSpPr txBox="1"/>
          <p:nvPr/>
        </p:nvSpPr>
        <p:spPr>
          <a:xfrm>
            <a:off x="990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2F5F6-C108-C36B-8DF3-060A6801488F}"/>
              </a:ext>
            </a:extLst>
          </p:cNvPr>
          <p:cNvSpPr txBox="1"/>
          <p:nvPr/>
        </p:nvSpPr>
        <p:spPr>
          <a:xfrm>
            <a:off x="990600" y="3352800"/>
            <a:ext cx="1460500" cy="5899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Register /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C06A8-3C06-5E29-4167-DB09056A50BD}"/>
              </a:ext>
            </a:extLst>
          </p:cNvPr>
          <p:cNvSpPr txBox="1"/>
          <p:nvPr/>
        </p:nvSpPr>
        <p:spPr>
          <a:xfrm>
            <a:off x="2628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4367F6-5813-81A5-AA73-C7168CA10CD9}"/>
              </a:ext>
            </a:extLst>
          </p:cNvPr>
          <p:cNvSpPr/>
          <p:nvPr/>
        </p:nvSpPr>
        <p:spPr>
          <a:xfrm>
            <a:off x="2794000" y="2921000"/>
            <a:ext cx="1651000" cy="1041400"/>
          </a:xfrm>
          <a:prstGeom prst="roundRect">
            <a:avLst/>
          </a:prstGeom>
          <a:solidFill>
            <a:srgbClr val="1B6B4A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003FF-F8C4-1C41-8B09-69993B073D4C}"/>
              </a:ext>
            </a:extLst>
          </p:cNvPr>
          <p:cNvSpPr txBox="1"/>
          <p:nvPr/>
        </p:nvSpPr>
        <p:spPr>
          <a:xfrm>
            <a:off x="2895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4353A-5FAE-7292-F32C-8782248339F8}"/>
              </a:ext>
            </a:extLst>
          </p:cNvPr>
          <p:cNvSpPr txBox="1"/>
          <p:nvPr/>
        </p:nvSpPr>
        <p:spPr>
          <a:xfrm>
            <a:off x="2895600" y="3352800"/>
            <a:ext cx="1460500" cy="5899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Search Caterers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0828F-FE87-0B66-23C7-498082621614}"/>
              </a:ext>
            </a:extLst>
          </p:cNvPr>
          <p:cNvSpPr txBox="1"/>
          <p:nvPr/>
        </p:nvSpPr>
        <p:spPr>
          <a:xfrm>
            <a:off x="4533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2316E1-1124-D181-8729-D0AF8A3D3202}"/>
              </a:ext>
            </a:extLst>
          </p:cNvPr>
          <p:cNvSpPr/>
          <p:nvPr/>
        </p:nvSpPr>
        <p:spPr>
          <a:xfrm>
            <a:off x="4699000" y="2921000"/>
            <a:ext cx="1651000" cy="1041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4E8C5-853B-55D3-0E1D-F03E66F152C2}"/>
              </a:ext>
            </a:extLst>
          </p:cNvPr>
          <p:cNvSpPr txBox="1"/>
          <p:nvPr/>
        </p:nvSpPr>
        <p:spPr>
          <a:xfrm>
            <a:off x="4800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FE9C1F-35A0-D292-6061-7B5F36B85357}"/>
              </a:ext>
            </a:extLst>
          </p:cNvPr>
          <p:cNvSpPr txBox="1"/>
          <p:nvPr/>
        </p:nvSpPr>
        <p:spPr>
          <a:xfrm>
            <a:off x="4800600" y="3352800"/>
            <a:ext cx="14605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View Menu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5DAD99-A373-E828-1C39-7DD9A7703832}"/>
              </a:ext>
            </a:extLst>
          </p:cNvPr>
          <p:cNvSpPr txBox="1"/>
          <p:nvPr/>
        </p:nvSpPr>
        <p:spPr>
          <a:xfrm>
            <a:off x="6438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F4D0A8-D0F5-11AC-42E5-B89A6564155B}"/>
              </a:ext>
            </a:extLst>
          </p:cNvPr>
          <p:cNvSpPr/>
          <p:nvPr/>
        </p:nvSpPr>
        <p:spPr>
          <a:xfrm>
            <a:off x="6604000" y="2921000"/>
            <a:ext cx="1651000" cy="1041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4646D1-23E8-EC6A-6FEE-4DF0CF751511}"/>
              </a:ext>
            </a:extLst>
          </p:cNvPr>
          <p:cNvSpPr txBox="1"/>
          <p:nvPr/>
        </p:nvSpPr>
        <p:spPr>
          <a:xfrm>
            <a:off x="6705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E1FD2B-802F-3778-EBE3-9F16A47180FC}"/>
              </a:ext>
            </a:extLst>
          </p:cNvPr>
          <p:cNvSpPr txBox="1"/>
          <p:nvPr/>
        </p:nvSpPr>
        <p:spPr>
          <a:xfrm>
            <a:off x="6705600" y="3352800"/>
            <a:ext cx="14605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Book Event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3BEF19-6C5D-224A-DF2B-0DF4C5C0A634}"/>
              </a:ext>
            </a:extLst>
          </p:cNvPr>
          <p:cNvSpPr txBox="1"/>
          <p:nvPr/>
        </p:nvSpPr>
        <p:spPr>
          <a:xfrm>
            <a:off x="8343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46AD84-F06C-3D64-958C-6DAB9EF78952}"/>
              </a:ext>
            </a:extLst>
          </p:cNvPr>
          <p:cNvSpPr/>
          <p:nvPr/>
        </p:nvSpPr>
        <p:spPr>
          <a:xfrm>
            <a:off x="8509000" y="2921000"/>
            <a:ext cx="1651000" cy="1041400"/>
          </a:xfrm>
          <a:prstGeom prst="roundRect">
            <a:avLst/>
          </a:prstGeom>
          <a:solidFill>
            <a:srgbClr val="D4622A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1A64FF-8273-1958-19D7-29FA3F88AFBB}"/>
              </a:ext>
            </a:extLst>
          </p:cNvPr>
          <p:cNvSpPr txBox="1"/>
          <p:nvPr/>
        </p:nvSpPr>
        <p:spPr>
          <a:xfrm>
            <a:off x="8610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02B7CD-D658-B44F-9CEB-E302D1EAFD76}"/>
              </a:ext>
            </a:extLst>
          </p:cNvPr>
          <p:cNvSpPr txBox="1"/>
          <p:nvPr/>
        </p:nvSpPr>
        <p:spPr>
          <a:xfrm>
            <a:off x="8610600" y="3352800"/>
            <a:ext cx="14605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Pay Online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2C6CC-A9C6-038C-9248-FD820BECB6F9}"/>
              </a:ext>
            </a:extLst>
          </p:cNvPr>
          <p:cNvSpPr txBox="1"/>
          <p:nvPr/>
        </p:nvSpPr>
        <p:spPr>
          <a:xfrm>
            <a:off x="10248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73E2A53-BA2E-BED2-1E81-17C365C9A6FF}"/>
              </a:ext>
            </a:extLst>
          </p:cNvPr>
          <p:cNvSpPr/>
          <p:nvPr/>
        </p:nvSpPr>
        <p:spPr>
          <a:xfrm>
            <a:off x="10414000" y="2921000"/>
            <a:ext cx="1651000" cy="1041400"/>
          </a:xfrm>
          <a:prstGeom prst="roundRect">
            <a:avLst/>
          </a:prstGeom>
          <a:solidFill>
            <a:srgbClr val="1B6B4A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A29239-CB0D-0E66-367F-A035113D2C76}"/>
              </a:ext>
            </a:extLst>
          </p:cNvPr>
          <p:cNvSpPr txBox="1"/>
          <p:nvPr/>
        </p:nvSpPr>
        <p:spPr>
          <a:xfrm>
            <a:off x="10515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2012A4-5EA9-0A5C-A6CF-B707C3F98D26}"/>
              </a:ext>
            </a:extLst>
          </p:cNvPr>
          <p:cNvSpPr txBox="1"/>
          <p:nvPr/>
        </p:nvSpPr>
        <p:spPr>
          <a:xfrm>
            <a:off x="10515600" y="3352800"/>
            <a:ext cx="1460500" cy="5899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Caterer Confirms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568160-3BC2-143B-A764-E31CC718E9C0}"/>
              </a:ext>
            </a:extLst>
          </p:cNvPr>
          <p:cNvSpPr txBox="1"/>
          <p:nvPr/>
        </p:nvSpPr>
        <p:spPr>
          <a:xfrm>
            <a:off x="12153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1DF59AC-E92C-3ED9-F9D1-4F2AEAEE978A}"/>
              </a:ext>
            </a:extLst>
          </p:cNvPr>
          <p:cNvSpPr/>
          <p:nvPr/>
        </p:nvSpPr>
        <p:spPr>
          <a:xfrm>
            <a:off x="12319000" y="2921000"/>
            <a:ext cx="1651000" cy="1041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A747F-DD25-CF8D-61AE-00786433CF0C}"/>
              </a:ext>
            </a:extLst>
          </p:cNvPr>
          <p:cNvSpPr txBox="1"/>
          <p:nvPr/>
        </p:nvSpPr>
        <p:spPr>
          <a:xfrm>
            <a:off x="12420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837F95-7347-98B7-AAFB-EC2F7AD33E84}"/>
              </a:ext>
            </a:extLst>
          </p:cNvPr>
          <p:cNvSpPr txBox="1"/>
          <p:nvPr/>
        </p:nvSpPr>
        <p:spPr>
          <a:xfrm>
            <a:off x="12420600" y="3352800"/>
            <a:ext cx="1460500" cy="5899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Invoice Generated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403F61-B2F8-22B0-F838-3282CE41351E}"/>
              </a:ext>
            </a:extLst>
          </p:cNvPr>
          <p:cNvSpPr txBox="1"/>
          <p:nvPr/>
        </p:nvSpPr>
        <p:spPr>
          <a:xfrm>
            <a:off x="14058900" y="3175000"/>
            <a:ext cx="444500" cy="6206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3200" b="1">
                <a:solidFill>
                  <a:srgbClr val="D1D5D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30F2076-AF4D-6E35-096F-C5D284319784}"/>
              </a:ext>
            </a:extLst>
          </p:cNvPr>
          <p:cNvSpPr/>
          <p:nvPr/>
        </p:nvSpPr>
        <p:spPr>
          <a:xfrm>
            <a:off x="14224000" y="2921000"/>
            <a:ext cx="1651000" cy="1041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12A4B7-168F-9A3D-B3A4-A562FFB48171}"/>
              </a:ext>
            </a:extLst>
          </p:cNvPr>
          <p:cNvSpPr txBox="1"/>
          <p:nvPr/>
        </p:nvSpPr>
        <p:spPr>
          <a:xfrm>
            <a:off x="14325600" y="3022600"/>
            <a:ext cx="4445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9976CA-89D0-6D22-6E18-ACFA80112D16}"/>
              </a:ext>
            </a:extLst>
          </p:cNvPr>
          <p:cNvSpPr txBox="1"/>
          <p:nvPr/>
        </p:nvSpPr>
        <p:spPr>
          <a:xfrm>
            <a:off x="14325600" y="3352800"/>
            <a:ext cx="1460500" cy="5899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Event Delivered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739A29-72A9-F1AC-AF07-FE3C02B959BF}"/>
              </a:ext>
            </a:extLst>
          </p:cNvPr>
          <p:cNvSpPr txBox="1"/>
          <p:nvPr/>
        </p:nvSpPr>
        <p:spPr>
          <a:xfrm>
            <a:off x="1270000" y="5334000"/>
            <a:ext cx="13716000" cy="866904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Aptos" panose="020B0004020202020204" pitchFamily="34" charset="0"/>
              </a:rPr>
              <a:t>Business rules: minimum 7 days advance booking, minimum 50 guests, and caterer-specific cancellation charges.</a:t>
            </a:r>
          </a:p>
        </p:txBody>
      </p:sp>
    </p:spTree>
    <p:extLst>
      <p:ext uri="{BB962C8B-B14F-4D97-AF65-F5344CB8AC3E}">
        <p14:creationId xmlns:p14="http://schemas.microsoft.com/office/powerpoint/2010/main" val="46556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B92E8-C9AF-7889-FEAA-7924C3EFED97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Customer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42757-5D8E-D643-FA1C-5D351C0984F9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Complete user-side booking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B5C026-5029-C60A-32B7-BBD2EB432F30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CA0E3B0-EEF5-2F77-76E3-66D33603302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0" y="2032000"/>
            <a:ext cx="4191000" cy="279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8579B1-B669-3C60-0920-107E2B521AB4}"/>
              </a:ext>
            </a:extLst>
          </p:cNvPr>
          <p:cNvSpPr txBox="1"/>
          <p:nvPr/>
        </p:nvSpPr>
        <p:spPr>
          <a:xfrm>
            <a:off x="1016000" y="1968500"/>
            <a:ext cx="8255000" cy="44012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Customer registration, login, forgot password and username reset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Dashboard with booking count, favorite count and recent orders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Search by city, area, food type, guest count and caterer name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Browse all restaurants with sorting by rating, name and city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Caterer detail page with business profile, rating, guest range and menu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Book event with menu item selection, guest count and venue details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Simulated online payment using Easypaisa, JazzCash or Bank Account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My bookings, booking details, cancellation, favorites and customer-caterer messages</a:t>
            </a:r>
          </a:p>
        </p:txBody>
      </p:sp>
    </p:spTree>
    <p:extLst>
      <p:ext uri="{BB962C8B-B14F-4D97-AF65-F5344CB8AC3E}">
        <p14:creationId xmlns:p14="http://schemas.microsoft.com/office/powerpoint/2010/main" val="335878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8E17C-59B6-4789-5B84-E0DEBDCB5306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Caterer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9DE3B-5BE6-D533-696B-A69CD3D0E44A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Business owner operations panel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29C087-A7F9-B348-3D20-A6B52A15985F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56ADCBD-6A3C-7119-8A42-7C5653545B2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0" y="1905000"/>
            <a:ext cx="4064000" cy="279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77382-7065-10B8-10B1-FC9D7452710C}"/>
              </a:ext>
            </a:extLst>
          </p:cNvPr>
          <p:cNvSpPr txBox="1"/>
          <p:nvPr/>
        </p:nvSpPr>
        <p:spPr>
          <a:xfrm>
            <a:off x="1016000" y="1968500"/>
            <a:ext cx="8382000" cy="44012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Caterer registration/login and editable restaurant profile with image upload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Dashboard showing pending bookings, confirmed bookings and paid revenue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Menu category management: add, edit and delete categories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Food item management: add, edit, availability and price per plate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Booking list, booking details and status update workflow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Generate customer invoices after booking confirmation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Worker, worker salary, raw material and supplier management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Supplier orders, supplier invoices and two-way messaging with customers</a:t>
            </a:r>
          </a:p>
        </p:txBody>
      </p:sp>
    </p:spTree>
    <p:extLst>
      <p:ext uri="{BB962C8B-B14F-4D97-AF65-F5344CB8AC3E}">
        <p14:creationId xmlns:p14="http://schemas.microsoft.com/office/powerpoint/2010/main" val="352451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DFC0F-C225-BDFB-C071-E408BE9B119D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Admin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86461-1C81-212B-2F95-B79C4EA086E6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Monitoring and control for the full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31418-B23B-67AC-582E-AC904C4F8A42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4B7B1-1A61-A4B9-D33A-2930927BB15A}"/>
              </a:ext>
            </a:extLst>
          </p:cNvPr>
          <p:cNvSpPr txBox="1"/>
          <p:nvPr/>
        </p:nvSpPr>
        <p:spPr>
          <a:xfrm>
            <a:off x="1016000" y="2032000"/>
            <a:ext cx="8572500" cy="40780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Dashboard metrics for customers, active caterers, bookings, pending payments and revenue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Payment breakdown across Easypaisa, JazzCash and Bank Account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Customer management: list, activate/deactivate and delete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Caterer management: list, activate/deactivate and delete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All bookings view with detailed booking records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Area report showing caterer counts, active count and average rating by city/area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Site announcements shown on homepage carousel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Login user management and complete modules page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742684-1B60-2CA7-D2F9-B770F704EF95}"/>
              </a:ext>
            </a:extLst>
          </p:cNvPr>
          <p:cNvSpPr/>
          <p:nvPr/>
        </p:nvSpPr>
        <p:spPr>
          <a:xfrm>
            <a:off x="10414000" y="1968500"/>
            <a:ext cx="3810000" cy="14605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D5041-770C-23F5-F1DA-44A975BC37B6}"/>
              </a:ext>
            </a:extLst>
          </p:cNvPr>
          <p:cNvSpPr txBox="1"/>
          <p:nvPr/>
        </p:nvSpPr>
        <p:spPr>
          <a:xfrm>
            <a:off x="10731500" y="2260600"/>
            <a:ext cx="3175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Admin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122D7-7F29-1CCA-970C-91EA4C2A1781}"/>
              </a:ext>
            </a:extLst>
          </p:cNvPr>
          <p:cNvSpPr txBox="1"/>
          <p:nvPr/>
        </p:nvSpPr>
        <p:spPr>
          <a:xfrm>
            <a:off x="10731500" y="2794000"/>
            <a:ext cx="3175000" cy="682238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Revenue + bookings + payment analytics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2D8BB7-DF04-E95D-B150-6D4E3B81A39D}"/>
              </a:ext>
            </a:extLst>
          </p:cNvPr>
          <p:cNvSpPr/>
          <p:nvPr/>
        </p:nvSpPr>
        <p:spPr>
          <a:xfrm>
            <a:off x="10414000" y="3810000"/>
            <a:ext cx="3810000" cy="1460500"/>
          </a:xfrm>
          <a:prstGeom prst="roundRect">
            <a:avLst/>
          </a:prstGeom>
          <a:solidFill>
            <a:srgbClr val="1F2937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EE22E-2353-3050-1062-B14A27276A58}"/>
              </a:ext>
            </a:extLst>
          </p:cNvPr>
          <p:cNvSpPr txBox="1"/>
          <p:nvPr/>
        </p:nvSpPr>
        <p:spPr>
          <a:xfrm>
            <a:off x="10731500" y="4102100"/>
            <a:ext cx="3175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User Control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89F67-668C-F6FE-6B2B-B01E9421E1B1}"/>
              </a:ext>
            </a:extLst>
          </p:cNvPr>
          <p:cNvSpPr txBox="1"/>
          <p:nvPr/>
        </p:nvSpPr>
        <p:spPr>
          <a:xfrm>
            <a:off x="10731500" y="4635500"/>
            <a:ext cx="3175000" cy="682238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Customers, caterers and login users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5E4CEA-AA02-86DB-3FFD-44A401527E57}"/>
              </a:ext>
            </a:extLst>
          </p:cNvPr>
          <p:cNvSpPr/>
          <p:nvPr/>
        </p:nvSpPr>
        <p:spPr>
          <a:xfrm>
            <a:off x="10414000" y="5651500"/>
            <a:ext cx="3810000" cy="1460500"/>
          </a:xfrm>
          <a:prstGeom prst="roundRect">
            <a:avLst/>
          </a:prstGeom>
          <a:solidFill>
            <a:srgbClr val="1F2937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AECBA-9267-250B-B157-2667B1CEC2D8}"/>
              </a:ext>
            </a:extLst>
          </p:cNvPr>
          <p:cNvSpPr txBox="1"/>
          <p:nvPr/>
        </p:nvSpPr>
        <p:spPr>
          <a:xfrm>
            <a:off x="10731500" y="5943600"/>
            <a:ext cx="3175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Reports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2E6678-783C-2791-8A24-0E7B6779AA45}"/>
              </a:ext>
            </a:extLst>
          </p:cNvPr>
          <p:cNvSpPr txBox="1"/>
          <p:nvPr/>
        </p:nvSpPr>
        <p:spPr>
          <a:xfrm>
            <a:off x="10731500" y="6477000"/>
            <a:ext cx="3175000" cy="682238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Areas, payments and bookings</a:t>
            </a:r>
          </a:p>
        </p:txBody>
      </p:sp>
    </p:spTree>
    <p:extLst>
      <p:ext uri="{BB962C8B-B14F-4D97-AF65-F5344CB8AC3E}">
        <p14:creationId xmlns:p14="http://schemas.microsoft.com/office/powerpoint/2010/main" val="187168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056BE-B941-F423-97D9-1DA273BF22F1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13 Integrated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141AD-E945-1AB4-A94E-B30907CB653E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All major modules implemented in the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707F4-6EC9-CD04-1FFD-E99765CC09E8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52FF2C-86B8-D762-179C-AB442D5AE6C5}"/>
              </a:ext>
            </a:extLst>
          </p:cNvPr>
          <p:cNvSpPr/>
          <p:nvPr/>
        </p:nvSpPr>
        <p:spPr>
          <a:xfrm>
            <a:off x="889000" y="19685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87F5B-F89E-4BF8-27CC-27670C8AB855}"/>
              </a:ext>
            </a:extLst>
          </p:cNvPr>
          <p:cNvSpPr txBox="1"/>
          <p:nvPr/>
        </p:nvSpPr>
        <p:spPr>
          <a:xfrm>
            <a:off x="1041400" y="21336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Login Module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9EE2A0-830D-C0D2-CB48-BDEF59707F56}"/>
              </a:ext>
            </a:extLst>
          </p:cNvPr>
          <p:cNvSpPr/>
          <p:nvPr/>
        </p:nvSpPr>
        <p:spPr>
          <a:xfrm>
            <a:off x="6032500" y="19685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C6345-299C-90A0-1AD1-A7EE1D93D42F}"/>
              </a:ext>
            </a:extLst>
          </p:cNvPr>
          <p:cNvSpPr txBox="1"/>
          <p:nvPr/>
        </p:nvSpPr>
        <p:spPr>
          <a:xfrm>
            <a:off x="6184900" y="21336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Customer Management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645EF1-18FF-8DB4-D3B7-49A7C8D1ED60}"/>
              </a:ext>
            </a:extLst>
          </p:cNvPr>
          <p:cNvSpPr/>
          <p:nvPr/>
        </p:nvSpPr>
        <p:spPr>
          <a:xfrm>
            <a:off x="11176000" y="19685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BE3F0-96B3-ED8E-9790-7E37B99EC183}"/>
              </a:ext>
            </a:extLst>
          </p:cNvPr>
          <p:cNvSpPr txBox="1"/>
          <p:nvPr/>
        </p:nvSpPr>
        <p:spPr>
          <a:xfrm>
            <a:off x="11328400" y="21336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Caterer Management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459EBC-A3C7-0463-5159-9D7B1D0AF40B}"/>
              </a:ext>
            </a:extLst>
          </p:cNvPr>
          <p:cNvSpPr/>
          <p:nvPr/>
        </p:nvSpPr>
        <p:spPr>
          <a:xfrm>
            <a:off x="889000" y="29591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DC817-13A4-918E-0AF7-5AFD18A39F15}"/>
              </a:ext>
            </a:extLst>
          </p:cNvPr>
          <p:cNvSpPr txBox="1"/>
          <p:nvPr/>
        </p:nvSpPr>
        <p:spPr>
          <a:xfrm>
            <a:off x="1041400" y="31242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Search Caterer Module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9568CB-007A-76BB-2A83-3E5BFC556D2D}"/>
              </a:ext>
            </a:extLst>
          </p:cNvPr>
          <p:cNvSpPr/>
          <p:nvPr/>
        </p:nvSpPr>
        <p:spPr>
          <a:xfrm>
            <a:off x="6032500" y="29591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C0529-FFC1-0393-055F-998625F6F06D}"/>
              </a:ext>
            </a:extLst>
          </p:cNvPr>
          <p:cNvSpPr txBox="1"/>
          <p:nvPr/>
        </p:nvSpPr>
        <p:spPr>
          <a:xfrm>
            <a:off x="6184900" y="31242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Booking Module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6030B8-2F0B-91C9-BD68-A053D5A2FDBE}"/>
              </a:ext>
            </a:extLst>
          </p:cNvPr>
          <p:cNvSpPr/>
          <p:nvPr/>
        </p:nvSpPr>
        <p:spPr>
          <a:xfrm>
            <a:off x="11176000" y="29591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FB57D-3A8F-84F4-5681-FC256C225BA9}"/>
              </a:ext>
            </a:extLst>
          </p:cNvPr>
          <p:cNvSpPr txBox="1"/>
          <p:nvPr/>
        </p:nvSpPr>
        <p:spPr>
          <a:xfrm>
            <a:off x="11328400" y="31242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Billing &amp; Payment Module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F02E44-4064-4E1D-E0E9-337841D74B9D}"/>
              </a:ext>
            </a:extLst>
          </p:cNvPr>
          <p:cNvSpPr/>
          <p:nvPr/>
        </p:nvSpPr>
        <p:spPr>
          <a:xfrm>
            <a:off x="889000" y="39497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92AE15-3D71-3878-3EF3-92E98FC27391}"/>
              </a:ext>
            </a:extLst>
          </p:cNvPr>
          <p:cNvSpPr txBox="1"/>
          <p:nvPr/>
        </p:nvSpPr>
        <p:spPr>
          <a:xfrm>
            <a:off x="1041400" y="41148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Favorite Caterer Module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3BC780-5344-D1C7-EEE5-AA521D6744B2}"/>
              </a:ext>
            </a:extLst>
          </p:cNvPr>
          <p:cNvSpPr/>
          <p:nvPr/>
        </p:nvSpPr>
        <p:spPr>
          <a:xfrm>
            <a:off x="6032500" y="39497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B49585-5178-7D7D-5668-EAEA34DE2A35}"/>
              </a:ext>
            </a:extLst>
          </p:cNvPr>
          <p:cNvSpPr txBox="1"/>
          <p:nvPr/>
        </p:nvSpPr>
        <p:spPr>
          <a:xfrm>
            <a:off x="6184900" y="41148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Messaging Module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ABFBE7-18C4-2BFD-7E58-DAFBC2F60B16}"/>
              </a:ext>
            </a:extLst>
          </p:cNvPr>
          <p:cNvSpPr/>
          <p:nvPr/>
        </p:nvSpPr>
        <p:spPr>
          <a:xfrm>
            <a:off x="11176000" y="39497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42B588-A50F-B986-7494-75413AECCF0C}"/>
              </a:ext>
            </a:extLst>
          </p:cNvPr>
          <p:cNvSpPr txBox="1"/>
          <p:nvPr/>
        </p:nvSpPr>
        <p:spPr>
          <a:xfrm>
            <a:off x="11328400" y="41148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Menu Management Module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25DC54F-9B14-2EAA-1C3E-83F7117011DF}"/>
              </a:ext>
            </a:extLst>
          </p:cNvPr>
          <p:cNvSpPr/>
          <p:nvPr/>
        </p:nvSpPr>
        <p:spPr>
          <a:xfrm>
            <a:off x="889000" y="49403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C3BD85-43F3-7A72-80C7-A2F51D7B0DE9}"/>
              </a:ext>
            </a:extLst>
          </p:cNvPr>
          <p:cNvSpPr txBox="1"/>
          <p:nvPr/>
        </p:nvSpPr>
        <p:spPr>
          <a:xfrm>
            <a:off x="1041400" y="51054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Supplier Management Module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49C0C7-F3C0-DCA6-87FB-89EA7CA31411}"/>
              </a:ext>
            </a:extLst>
          </p:cNvPr>
          <p:cNvSpPr/>
          <p:nvPr/>
        </p:nvSpPr>
        <p:spPr>
          <a:xfrm>
            <a:off x="6032500" y="49403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D8C7C0-FB36-9967-A858-1585C8E7924A}"/>
              </a:ext>
            </a:extLst>
          </p:cNvPr>
          <p:cNvSpPr txBox="1"/>
          <p:nvPr/>
        </p:nvSpPr>
        <p:spPr>
          <a:xfrm>
            <a:off x="6184900" y="51054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Worker Management Module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38FF68-2B51-6179-C12F-F0F6F69541FC}"/>
              </a:ext>
            </a:extLst>
          </p:cNvPr>
          <p:cNvSpPr/>
          <p:nvPr/>
        </p:nvSpPr>
        <p:spPr>
          <a:xfrm>
            <a:off x="11176000" y="49403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3452C1-6F25-3ECC-16BA-0A7933FFE767}"/>
              </a:ext>
            </a:extLst>
          </p:cNvPr>
          <p:cNvSpPr txBox="1"/>
          <p:nvPr/>
        </p:nvSpPr>
        <p:spPr>
          <a:xfrm>
            <a:off x="11328400" y="51054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Invoice Management Module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CAA413-3EE0-0013-7920-E7578AF2FF31}"/>
              </a:ext>
            </a:extLst>
          </p:cNvPr>
          <p:cNvSpPr/>
          <p:nvPr/>
        </p:nvSpPr>
        <p:spPr>
          <a:xfrm>
            <a:off x="889000" y="5930900"/>
            <a:ext cx="4508500" cy="736600"/>
          </a:xfrm>
          <a:prstGeom prst="roundRect">
            <a:avLst/>
          </a:prstGeom>
          <a:solidFill>
            <a:srgbClr val="1F2937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62E500-994D-1836-2789-FEF726341838}"/>
              </a:ext>
            </a:extLst>
          </p:cNvPr>
          <p:cNvSpPr txBox="1"/>
          <p:nvPr/>
        </p:nvSpPr>
        <p:spPr>
          <a:xfrm>
            <a:off x="1041400" y="6096000"/>
            <a:ext cx="4191000" cy="40523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✓ Salary Management Module</a:t>
            </a:r>
          </a:p>
        </p:txBody>
      </p:sp>
    </p:spTree>
    <p:extLst>
      <p:ext uri="{BB962C8B-B14F-4D97-AF65-F5344CB8AC3E}">
        <p14:creationId xmlns:p14="http://schemas.microsoft.com/office/powerpoint/2010/main" val="20161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C5D58-356F-A197-1057-379A04AC254F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Booking, Payment &amp; Invoice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5FDE6-4E6B-227E-A528-D4A927330B7A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Core business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1C5035-AE3D-92FE-A751-B0D1CA97BC06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9CD09-E94C-F406-97DE-F8DE73A8239B}"/>
              </a:ext>
            </a:extLst>
          </p:cNvPr>
          <p:cNvSpPr txBox="1"/>
          <p:nvPr/>
        </p:nvSpPr>
        <p:spPr>
          <a:xfrm>
            <a:off x="1016000" y="2032000"/>
            <a:ext cx="8763000" cy="4401205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Booking ID is generated automatically in BKyyyyMMdd#### format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Booking validation enforces minimum guests and advance event date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Selected menu items are multiplied by guest count to calculate total amount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Payment screen stores payment method and marks order as paid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Caterer confirms or updates booking status from their panel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Customer invoice number is generated automatically in INVyyyyMMdd#### format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Invoice includes subtotal, 5% tax and grand total with line item details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Cancellation charge is calculated using the caterer cancellation percentage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B96CE4-D8C8-2B74-A1B9-577EB142733C}"/>
              </a:ext>
            </a:extLst>
          </p:cNvPr>
          <p:cNvSpPr/>
          <p:nvPr/>
        </p:nvSpPr>
        <p:spPr>
          <a:xfrm>
            <a:off x="10668000" y="2159000"/>
            <a:ext cx="3492500" cy="1016000"/>
          </a:xfrm>
          <a:prstGeom prst="roundRect">
            <a:avLst/>
          </a:prstGeom>
          <a:solidFill>
            <a:srgbClr val="D4622A"/>
          </a:solidFill>
          <a:ln>
            <a:solidFill>
              <a:srgbClr val="D462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B609C-429E-176C-823F-599D068A286E}"/>
              </a:ext>
            </a:extLst>
          </p:cNvPr>
          <p:cNvSpPr txBox="1"/>
          <p:nvPr/>
        </p:nvSpPr>
        <p:spPr>
          <a:xfrm>
            <a:off x="10858500" y="2476500"/>
            <a:ext cx="31115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BK20260703####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8C7C13-6237-8D03-0316-D54FB63B66AE}"/>
              </a:ext>
            </a:extLst>
          </p:cNvPr>
          <p:cNvSpPr/>
          <p:nvPr/>
        </p:nvSpPr>
        <p:spPr>
          <a:xfrm>
            <a:off x="10668000" y="3619500"/>
            <a:ext cx="3492500" cy="1016000"/>
          </a:xfrm>
          <a:prstGeom prst="roundRect">
            <a:avLst/>
          </a:prstGeom>
          <a:solidFill>
            <a:srgbClr val="1B6B4A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35445-8BBB-6150-4F0C-E1C870259C64}"/>
              </a:ext>
            </a:extLst>
          </p:cNvPr>
          <p:cNvSpPr txBox="1"/>
          <p:nvPr/>
        </p:nvSpPr>
        <p:spPr>
          <a:xfrm>
            <a:off x="10858500" y="3937000"/>
            <a:ext cx="3111500" cy="512961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Paid Online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49FB0-69EF-47EA-3D4E-C6EC13DD6880}"/>
              </a:ext>
            </a:extLst>
          </p:cNvPr>
          <p:cNvSpPr/>
          <p:nvPr/>
        </p:nvSpPr>
        <p:spPr>
          <a:xfrm>
            <a:off x="10668000" y="5080000"/>
            <a:ext cx="3492500" cy="1016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9F6A1-C0EE-D3AD-F9F6-F30C12F9231D}"/>
              </a:ext>
            </a:extLst>
          </p:cNvPr>
          <p:cNvSpPr txBox="1"/>
          <p:nvPr/>
        </p:nvSpPr>
        <p:spPr>
          <a:xfrm>
            <a:off x="10858500" y="5397500"/>
            <a:ext cx="3111500" cy="48218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Aptos" panose="020B0004020202020204" pitchFamily="34" charset="0"/>
              </a:rPr>
              <a:t>INV20260703####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1E214-6FFE-4471-7431-CBC449EB2B20}"/>
              </a:ext>
            </a:extLst>
          </p:cNvPr>
          <p:cNvSpPr txBox="1"/>
          <p:nvPr/>
        </p:nvSpPr>
        <p:spPr>
          <a:xfrm>
            <a:off x="9906000" y="6794500"/>
            <a:ext cx="53340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000" b="1">
                <a:solidFill>
                  <a:srgbClr val="FBBF24"/>
                </a:solidFill>
                <a:latin typeface="Aptos" panose="020B0004020202020204" pitchFamily="34" charset="0"/>
              </a:rPr>
              <a:t>Payment Methods: Easypaisa | JazzCash | Bank Account</a:t>
            </a:r>
          </a:p>
        </p:txBody>
      </p:sp>
    </p:spTree>
    <p:extLst>
      <p:ext uri="{BB962C8B-B14F-4D97-AF65-F5344CB8AC3E}">
        <p14:creationId xmlns:p14="http://schemas.microsoft.com/office/powerpoint/2010/main" val="221309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BC321A-4BD6-B012-988B-87083BFDC804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Management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4D7FA-CEC4-0B15-8120-464DC09E94C9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Caterer-side operational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34880-BAE3-F68A-2DA9-18786E0CF7BD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F0C37E-AC81-57B9-5EA3-977F33BBE36A}"/>
              </a:ext>
            </a:extLst>
          </p:cNvPr>
          <p:cNvSpPr/>
          <p:nvPr/>
        </p:nvSpPr>
        <p:spPr>
          <a:xfrm>
            <a:off x="952500" y="2095500"/>
            <a:ext cx="6604000" cy="1968500"/>
          </a:xfrm>
          <a:prstGeom prst="roundRect">
            <a:avLst/>
          </a:prstGeom>
          <a:solidFill>
            <a:srgbClr val="1F2937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7DA3F-5E99-93C2-04F0-27623C928910}"/>
              </a:ext>
            </a:extLst>
          </p:cNvPr>
          <p:cNvSpPr txBox="1"/>
          <p:nvPr/>
        </p:nvSpPr>
        <p:spPr>
          <a:xfrm>
            <a:off x="1257300" y="2324100"/>
            <a:ext cx="5842000" cy="512961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500" b="1">
                <a:solidFill>
                  <a:srgbClr val="F4A261"/>
                </a:solidFill>
                <a:latin typeface="Aptos" panose="020B0004020202020204" pitchFamily="34" charset="0"/>
              </a:rPr>
              <a:t>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2EED4-CA50-353C-2C2A-DD0215881AB8}"/>
              </a:ext>
            </a:extLst>
          </p:cNvPr>
          <p:cNvSpPr txBox="1"/>
          <p:nvPr/>
        </p:nvSpPr>
        <p:spPr>
          <a:xfrm>
            <a:off x="1257300" y="2882900"/>
            <a:ext cx="58420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Categories, dishes, descriptions, veg/non-veg, price per plate and availability.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B22B8D-9767-1A82-FC2A-8391C9774BD5}"/>
              </a:ext>
            </a:extLst>
          </p:cNvPr>
          <p:cNvSpPr/>
          <p:nvPr/>
        </p:nvSpPr>
        <p:spPr>
          <a:xfrm>
            <a:off x="8445500" y="2095500"/>
            <a:ext cx="6604000" cy="1968500"/>
          </a:xfrm>
          <a:prstGeom prst="roundRect">
            <a:avLst/>
          </a:prstGeom>
          <a:solidFill>
            <a:srgbClr val="1F2937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F8A84-558C-21FD-E7C8-4CB93DF6BAEA}"/>
              </a:ext>
            </a:extLst>
          </p:cNvPr>
          <p:cNvSpPr txBox="1"/>
          <p:nvPr/>
        </p:nvSpPr>
        <p:spPr>
          <a:xfrm>
            <a:off x="8750300" y="2324100"/>
            <a:ext cx="5842000" cy="512961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500" b="1">
                <a:solidFill>
                  <a:srgbClr val="F4A261"/>
                </a:solidFill>
                <a:latin typeface="Aptos" panose="020B0004020202020204" pitchFamily="34" charset="0"/>
              </a:rPr>
              <a:t>Supplier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65256-8068-1469-922F-B266D0C45071}"/>
              </a:ext>
            </a:extLst>
          </p:cNvPr>
          <p:cNvSpPr txBox="1"/>
          <p:nvPr/>
        </p:nvSpPr>
        <p:spPr>
          <a:xfrm>
            <a:off x="8750300" y="2882900"/>
            <a:ext cx="58420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Supplier profiles, supplier orders, estimated amount and supplier invoices.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8AF7B6-A4DA-0B64-BC1D-1FA4F9541060}"/>
              </a:ext>
            </a:extLst>
          </p:cNvPr>
          <p:cNvSpPr/>
          <p:nvPr/>
        </p:nvSpPr>
        <p:spPr>
          <a:xfrm>
            <a:off x="952500" y="4635500"/>
            <a:ext cx="6604000" cy="1968500"/>
          </a:xfrm>
          <a:prstGeom prst="roundRect">
            <a:avLst/>
          </a:prstGeom>
          <a:solidFill>
            <a:srgbClr val="1F2937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7EA84-6E94-4F5D-803F-0003D20E6528}"/>
              </a:ext>
            </a:extLst>
          </p:cNvPr>
          <p:cNvSpPr txBox="1"/>
          <p:nvPr/>
        </p:nvSpPr>
        <p:spPr>
          <a:xfrm>
            <a:off x="1257300" y="4864100"/>
            <a:ext cx="5842000" cy="512961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500" b="1">
                <a:solidFill>
                  <a:srgbClr val="F4A261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F5B58F-65BE-C236-CBC8-16A3A47AEC57}"/>
              </a:ext>
            </a:extLst>
          </p:cNvPr>
          <p:cNvSpPr txBox="1"/>
          <p:nvPr/>
        </p:nvSpPr>
        <p:spPr>
          <a:xfrm>
            <a:off x="1257300" y="5422900"/>
            <a:ext cx="58420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Raw material records for kitchen purchasing and order planning.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3AB1AD-26FA-2D9F-C034-785B5B7643A3}"/>
              </a:ext>
            </a:extLst>
          </p:cNvPr>
          <p:cNvSpPr/>
          <p:nvPr/>
        </p:nvSpPr>
        <p:spPr>
          <a:xfrm>
            <a:off x="8445500" y="4635500"/>
            <a:ext cx="6604000" cy="1968500"/>
          </a:xfrm>
          <a:prstGeom prst="roundRect">
            <a:avLst/>
          </a:prstGeom>
          <a:solidFill>
            <a:srgbClr val="1F2937"/>
          </a:solidFill>
          <a:ln>
            <a:solidFill>
              <a:srgbClr val="1B6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5002E-FCAB-D45B-122E-4C70D42EE688}"/>
              </a:ext>
            </a:extLst>
          </p:cNvPr>
          <p:cNvSpPr txBox="1"/>
          <p:nvPr/>
        </p:nvSpPr>
        <p:spPr>
          <a:xfrm>
            <a:off x="8750300" y="4864100"/>
            <a:ext cx="5842000" cy="512961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500" b="1">
                <a:solidFill>
                  <a:srgbClr val="F4A261"/>
                </a:solidFill>
                <a:latin typeface="Aptos" panose="020B0004020202020204" pitchFamily="34" charset="0"/>
              </a:rPr>
              <a:t>Workers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D9767-4C80-9992-D624-B2A61881824E}"/>
              </a:ext>
            </a:extLst>
          </p:cNvPr>
          <p:cNvSpPr txBox="1"/>
          <p:nvPr/>
        </p:nvSpPr>
        <p:spPr>
          <a:xfrm>
            <a:off x="8750300" y="5422900"/>
            <a:ext cx="5842000" cy="74379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Worker types, active staff records, salary month/year and total pay calculation.</a:t>
            </a:r>
          </a:p>
        </p:txBody>
      </p:sp>
    </p:spTree>
    <p:extLst>
      <p:ext uri="{BB962C8B-B14F-4D97-AF65-F5344CB8AC3E}">
        <p14:creationId xmlns:p14="http://schemas.microsoft.com/office/powerpoint/2010/main" val="68909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B54CD-8050-43B6-D28A-751070A093C0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UI / UX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379F9-AD07-B94F-E6C3-2AAB4BF7A188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Responsive, polished interface for the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74D457-7886-5F57-39F6-071384E7CF90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4E0056-1EDA-34DB-F4B5-C8CDE40E48B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0" y="1905000"/>
            <a:ext cx="3810000" cy="266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F7DBB8-EFF0-7D5E-B390-A46080D66972}"/>
              </a:ext>
            </a:extLst>
          </p:cNvPr>
          <p:cNvSpPr txBox="1"/>
          <p:nvPr/>
        </p:nvSpPr>
        <p:spPr>
          <a:xfrm>
            <a:off x="1016000" y="2032000"/>
            <a:ext cx="8572500" cy="365228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Premium dark theme with orange and green brand palette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Responsive Bootstrap navigation and role-aware menu items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Homepage hero with video background, quick search form and stats counters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Featured caterer cards with images, rating, city/area and guest range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Popular dishes slider with category filters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Testimonials, chef showcase, back-to-top button and scroll animations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Separate layouts for public pages, customer panel, caterer panel and admin panel</a:t>
            </a:r>
          </a:p>
        </p:txBody>
      </p:sp>
    </p:spTree>
    <p:extLst>
      <p:ext uri="{BB962C8B-B14F-4D97-AF65-F5344CB8AC3E}">
        <p14:creationId xmlns:p14="http://schemas.microsoft.com/office/powerpoint/2010/main" val="3277970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1DC170-E86B-F5F2-01AD-45806B7811E7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Database &amp;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90415-C1F0-7C70-1C41-D30B748F5A20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How the project is structured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E2ABD-4172-6809-249E-5ABF3FC8F28C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07A0B-EF31-23FC-BD7D-E71012592083}"/>
              </a:ext>
            </a:extLst>
          </p:cNvPr>
          <p:cNvSpPr txBox="1"/>
          <p:nvPr/>
        </p:nvSpPr>
        <p:spPr>
          <a:xfrm>
            <a:off x="1016000" y="1968500"/>
            <a:ext cx="8572500" cy="494494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MVC structure: Controllers, Models, ViewModels, Views, Services and Data layer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Entity Framework Core DbContext maps all platform entities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SQL Server database is created with seed data for demo accounts and caterers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Session-based authentication stores user id, user type, reference id and display name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Unique indexes for username, booking id, customer invoice, supplier order and supplier invoice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Relationship rules protect orders, invoices, suppliers and raw materials from unsafe deletes</a:t>
            </a:r>
          </a:p>
          <a:p>
            <a:pPr>
              <a:spcAft>
                <a:spcPts val="800"/>
              </a:spcAft>
            </a:pPr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- Static assets in wwwroot: CSS theme, JavaScript interactions, favicon and caterer images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83B93F-5952-A7DB-DF09-FA4D90E40157}"/>
              </a:ext>
            </a:extLst>
          </p:cNvPr>
          <p:cNvSpPr/>
          <p:nvPr/>
        </p:nvSpPr>
        <p:spPr>
          <a:xfrm>
            <a:off x="10414000" y="2032000"/>
            <a:ext cx="4064000" cy="4635500"/>
          </a:xfrm>
          <a:prstGeom prst="roundRect">
            <a:avLst/>
          </a:prstGeom>
          <a:solidFill>
            <a:srgbClr val="1F2937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DD7D0-C249-1497-7E1D-35E9971E51C6}"/>
              </a:ext>
            </a:extLst>
          </p:cNvPr>
          <p:cNvSpPr txBox="1"/>
          <p:nvPr/>
        </p:nvSpPr>
        <p:spPr>
          <a:xfrm>
            <a:off x="10731500" y="2349500"/>
            <a:ext cx="3429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 b="1">
                <a:solidFill>
                  <a:srgbClr val="F4A261"/>
                </a:solidFill>
                <a:latin typeface="Aptos" panose="020B0004020202020204" pitchFamily="34" charset="0"/>
              </a:rPr>
              <a:t>Core Entities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59F62-7B8A-C0E0-E58F-7A3AEA46AE2D}"/>
              </a:ext>
            </a:extLst>
          </p:cNvPr>
          <p:cNvSpPr txBox="1"/>
          <p:nvPr/>
        </p:nvSpPr>
        <p:spPr>
          <a:xfrm>
            <a:off x="10858500" y="3048000"/>
            <a:ext cx="3175000" cy="2390398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100">
                <a:solidFill>
                  <a:srgbClr val="FFFFFF"/>
                </a:solidFill>
                <a:latin typeface="Aptos" panose="020B0004020202020204" pitchFamily="34" charset="0"/>
              </a:rPr>
              <a:t>LoginMaster
Customer / Caterer
MenuCategory / Menu
CustOrder / Invoice
Supplier / SupplierOrder
RawMaterial / Worker
Favorite / Message</a:t>
            </a:r>
          </a:p>
        </p:txBody>
      </p:sp>
    </p:spTree>
    <p:extLst>
      <p:ext uri="{BB962C8B-B14F-4D97-AF65-F5344CB8AC3E}">
        <p14:creationId xmlns:p14="http://schemas.microsoft.com/office/powerpoint/2010/main" val="365431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994FE-D2AD-0664-15A8-E92029F0A288}"/>
              </a:ext>
            </a:extLst>
          </p:cNvPr>
          <p:cNvSpPr txBox="1"/>
          <p:nvPr/>
        </p:nvSpPr>
        <p:spPr>
          <a:xfrm>
            <a:off x="698500" y="444500"/>
            <a:ext cx="10795000" cy="651460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Work Completed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7B23F-A95E-2B2C-51DB-C9767CC97AAD}"/>
              </a:ext>
            </a:extLst>
          </p:cNvPr>
          <p:cNvSpPr txBox="1"/>
          <p:nvPr/>
        </p:nvSpPr>
        <p:spPr>
          <a:xfrm>
            <a:off x="736600" y="1117600"/>
            <a:ext cx="12446000" cy="359073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r>
              <a:rPr lang="en-US" sz="1500">
                <a:solidFill>
                  <a:srgbClr val="D1D5DB"/>
                </a:solidFill>
                <a:latin typeface="Aptos" panose="020B0004020202020204" pitchFamily="34" charset="0"/>
              </a:rPr>
              <a:t>What has been delivered in this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7C6C47-00B0-4EED-B78B-412AB87454B6}"/>
              </a:ext>
            </a:extLst>
          </p:cNvPr>
          <p:cNvSpPr/>
          <p:nvPr/>
        </p:nvSpPr>
        <p:spPr>
          <a:xfrm>
            <a:off x="736600" y="1587500"/>
            <a:ext cx="2032000" cy="63500"/>
          </a:xfrm>
          <a:prstGeom prst="rect">
            <a:avLst/>
          </a:prstGeom>
          <a:solidFill>
            <a:srgbClr val="D46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E91AE-573E-B62C-52B0-338ED2007B96}"/>
              </a:ext>
            </a:extLst>
          </p:cNvPr>
          <p:cNvSpPr txBox="1"/>
          <p:nvPr/>
        </p:nvSpPr>
        <p:spPr>
          <a:xfrm>
            <a:off x="1016000" y="2032000"/>
            <a:ext cx="9398000" cy="4909036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Built complete online catering workflow from search to booking and invoice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Implemented customer, caterer and admin role experiences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Added business rules for minimum advance booking and guest count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Added payment simulation and financial reporting screens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Added messaging and favorite caterer features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Added operational modules for menus, workers, salaries, suppliers and raw materials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Added responsive branded UI with modern cards, hero media, sliders and dashboards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- Organized project with MVC pattern, services and EF Core database models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9DAF6C-9160-E230-62D7-243D8735132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3000" y="2159000"/>
            <a:ext cx="3175000" cy="2032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4FBC5C-D480-FCD7-F09B-19700E3FF60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3000" y="4699000"/>
            <a:ext cx="3175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9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0BA74F-2B69-72CF-24B9-AF257675719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85D71-387D-8562-177D-A6CA1CCDFC4B}"/>
              </a:ext>
            </a:extLst>
          </p:cNvPr>
          <p:cNvSpPr txBox="1"/>
          <p:nvPr/>
        </p:nvSpPr>
        <p:spPr>
          <a:xfrm>
            <a:off x="0" y="2032000"/>
            <a:ext cx="16256000" cy="959237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79F5C-A245-C3F5-8DFC-DEB15D152730}"/>
              </a:ext>
            </a:extLst>
          </p:cNvPr>
          <p:cNvSpPr txBox="1"/>
          <p:nvPr/>
        </p:nvSpPr>
        <p:spPr>
          <a:xfrm>
            <a:off x="0" y="3111500"/>
            <a:ext cx="16256000" cy="559127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800" b="1">
                <a:solidFill>
                  <a:srgbClr val="F4A261"/>
                </a:solidFill>
                <a:latin typeface="Aptos" panose="020B0004020202020204" pitchFamily="34" charset="0"/>
              </a:rPr>
              <a:t>CaterBook - Online Catering Service Website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51604-6F16-7506-5507-3E99DD64B618}"/>
              </a:ext>
            </a:extLst>
          </p:cNvPr>
          <p:cNvSpPr txBox="1"/>
          <p:nvPr/>
        </p:nvSpPr>
        <p:spPr>
          <a:xfrm>
            <a:off x="0" y="4191000"/>
            <a:ext cx="16256000" cy="497572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400">
                <a:solidFill>
                  <a:srgbClr val="D1D5DB"/>
                </a:solidFill>
                <a:latin typeface="Aptos" panose="020B0004020202020204" pitchFamily="34" charset="0"/>
              </a:rPr>
              <a:t>Download file: CaterBook_Project_Presentation.pptx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87E14-BE63-6802-3460-50B95FB5D0F9}"/>
              </a:ext>
            </a:extLst>
          </p:cNvPr>
          <p:cNvSpPr txBox="1"/>
          <p:nvPr/>
        </p:nvSpPr>
        <p:spPr>
          <a:xfrm>
            <a:off x="2921000" y="4953000"/>
            <a:ext cx="10414000" cy="805349"/>
          </a:xfrm>
          <a:prstGeom prst="rect">
            <a:avLst/>
          </a:prstGeom>
          <a:noFill/>
        </p:spPr>
        <p:txBody>
          <a:bodyPr vert="horz" lIns="127000" tIns="63500" rIns="127000" bIns="63500" rtlCol="0">
            <a:spAutoFit/>
          </a:bodyPr>
          <a:lstStyle/>
          <a:p>
            <a:pPr algn="ctr"/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Prepared from the actual project features, controllers, views, services and local visual assets.</a:t>
            </a:r>
          </a:p>
        </p:txBody>
      </p:sp>
    </p:spTree>
    <p:extLst>
      <p:ext uri="{BB962C8B-B14F-4D97-AF65-F5344CB8AC3E}">
        <p14:creationId xmlns:p14="http://schemas.microsoft.com/office/powerpoint/2010/main" val="259940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Microsoft Office PowerPoint</Application>
  <PresentationFormat>Custom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shahid</dc:creator>
  <cp:lastModifiedBy>rohan shahid</cp:lastModifiedBy>
  <cp:revision>1</cp:revision>
  <dcterms:created xsi:type="dcterms:W3CDTF">2026-07-03T00:17:06Z</dcterms:created>
  <dcterms:modified xsi:type="dcterms:W3CDTF">2026-07-03T00:17:06Z</dcterms:modified>
</cp:coreProperties>
</file>